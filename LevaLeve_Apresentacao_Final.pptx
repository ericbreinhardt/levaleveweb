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70" r:id="rId11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2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13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8.png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6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BA06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840480"/>
            <a:ext cx="4572000" cy="4572000"/>
          </a:xfrm>
          <a:prstGeom prst="ellipse">
            <a:avLst/>
          </a:prstGeom>
          <a:solidFill>
            <a:srgbClr val="1C7EC4">
              <a:alpha val="10000"/>
            </a:srgbClr>
          </a:solidFill>
          <a:ln/>
        </p:spPr>
      </p:sp>
      <p:pic>
        <p:nvPicPr>
          <p:cNvPr id="4" name="Image 0" descr="images/brand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5669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LEVE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Transporte de móveis e mudanças,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2999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sob demanda e com preço </a:t>
            </a:r>
            <a:r>
              <a:rPr lang="en-US" sz="4000" b="1" dirty="0">
                <a:solidFill>
                  <a:srgbClr val="0B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5358618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35861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simples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5358618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535861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fixo e transparente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5358618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535861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em tempo real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— Centro Universitário Senac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Mover móveis ainda é caro, lento e imprevisível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6712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3042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2608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incerto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3520440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Fretes tradicionais cobram valores diferentes a cada ligação, sem padrão claro.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46704" y="18745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02736" y="216712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23042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2736" y="292608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 no agendamento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02736" y="3520440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um frete disponível pode levar horas ou exigir vários contatos.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44768" y="189738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216712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30428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92608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transparência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00800" y="3520440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não acompanha o trajeto nem sabe quando o motorista vai chegar.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42832" y="18745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98864" y="2167128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024" y="230428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98864" y="292608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garantia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198864" y="3520440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empresas de frete informal oferecem cobertura para danos durante o transporte.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Leve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A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 Leve: o transporte de móveis</a:t>
            </a:r>
            <a:endParaRPr lang="en-US" sz="3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 como um Uber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informa o que precisa transportar, recebe um preço fixo na hora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é conectado a um motorista disponível — com rastreamento em tempo real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8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início ao fim da entrega.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947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7398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fixo e transparente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60120" y="4041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Saiba quanto vai pagar antes de confirmar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616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43068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em tempo real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60120" y="46085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seu motorista a cada momento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92861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48737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incluso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960120" y="51755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até R$ 5.000 em todas as viagens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495544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5440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e pontual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960120" y="5742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Motoristas disponíveis 24 horas por dia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7452360" y="1051560"/>
            <a:ext cx="4160520" cy="47548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4" descr="images/brand-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137160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21040" y="13898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Leve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7772400" y="2057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Transporte de móveis</a:t>
            </a: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objetos grandes</a:t>
            </a:r>
            <a:endParaRPr lang="en-US" sz="1900" dirty="0"/>
          </a:p>
        </p:txBody>
      </p:sp>
      <p:sp>
        <p:nvSpPr>
          <p:cNvPr id="22" name="Shape 15"/>
          <p:cNvSpPr/>
          <p:nvPr/>
        </p:nvSpPr>
        <p:spPr>
          <a:xfrm>
            <a:off x="7772400" y="3017520"/>
            <a:ext cx="3520440" cy="502920"/>
          </a:xfrm>
          <a:prstGeom prst="roundRect">
            <a:avLst>
              <a:gd name="adj" fmla="val 49091"/>
            </a:avLst>
          </a:prstGeom>
          <a:solidFill>
            <a:srgbClr val="0BA06A"/>
          </a:solidFill>
          <a:ln/>
        </p:spPr>
      </p:sp>
      <p:sp>
        <p:nvSpPr>
          <p:cNvPr id="23" name="Text 16"/>
          <p:cNvSpPr/>
          <p:nvPr/>
        </p:nvSpPr>
        <p:spPr>
          <a:xfrm>
            <a:off x="7772400" y="3017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transporte agora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7772400" y="36576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25" name="Text 18"/>
          <p:cNvSpPr/>
          <p:nvPr/>
        </p:nvSpPr>
        <p:spPr>
          <a:xfrm>
            <a:off x="800100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estimado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800100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8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R$ 187,90</a:t>
            </a:r>
            <a:endParaRPr lang="en-US" sz="2700" dirty="0"/>
          </a:p>
        </p:txBody>
      </p:sp>
      <p:sp>
        <p:nvSpPr>
          <p:cNvPr id="27" name="Text 20"/>
          <p:cNvSpPr/>
          <p:nvPr/>
        </p:nvSpPr>
        <p:spPr>
          <a:xfrm>
            <a:off x="800100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Sofá + 2 caixas · 6,4 km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01000" y="498348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5102352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275320" y="5074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 a 4 min de distância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Leve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8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USO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Fluxograma — jornada do cliente</a:t>
            </a:r>
            <a:endParaRPr lang="en-US" sz="2800" dirty="0"/>
          </a:p>
        </p:txBody>
      </p:sp>
      <p:pic>
        <p:nvPicPr>
          <p:cNvPr id="4" name="Image 0" descr="images/flow_cli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11155680" cy="4142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Leve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8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USO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Fluxograma — jornada do motorista</a:t>
            </a:r>
            <a:endParaRPr lang="en-US" sz="2800" dirty="0"/>
          </a:p>
        </p:txBody>
      </p:sp>
      <p:pic>
        <p:nvPicPr>
          <p:cNvPr id="4" name="Image 0" descr="images/flow_motori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11155680" cy="4142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Leve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UML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casos de uso</a:t>
            </a:r>
            <a:endParaRPr lang="en-US" sz="2700" dirty="0"/>
          </a:p>
        </p:txBody>
      </p:sp>
      <p:pic>
        <p:nvPicPr>
          <p:cNvPr id="4" name="Image 0" descr="images/use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11521440" cy="6062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Leve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UML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 detalhados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99262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Ator principal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 resumida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Solicitar transporte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8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informa itens, origem, destino e data; sistema gera a solicitação.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Calcular preço fixo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8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calcula valor com base em distância, volume e tipo de item.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Aceitar ou recusar corrida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7E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Motorista avalia a solicitação recebida e decide se atende.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Acompanhar entrega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8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visualiza em tempo real a localização do motorista até a entrega.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Finalizar entrega e registrar ganhos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7E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Motorista confirma a conclusão e o valor é creditado no painel.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Avaliar motorista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8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atribui nota e comentário após a finalização do serviço.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Leve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deve fazer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411480" cy="411480"/>
          </a:xfrm>
          <a:prstGeom prst="ellipse">
            <a:avLst/>
          </a:prstGeom>
          <a:solidFill>
            <a:srgbClr val="E8F8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4767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51560" y="198424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autenticação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1560" y="2258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cadastro e login de clientes e motoristas, com verificação de identidade.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907792"/>
            <a:ext cx="411480" cy="411480"/>
          </a:xfrm>
          <a:prstGeom prst="ellipse">
            <a:avLst/>
          </a:prstGeom>
          <a:solidFill>
            <a:srgbClr val="E8F8F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9923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RF02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51560" y="30358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solicitação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051560" y="33101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informa itens, volume, origem e destino para gerar o pedido.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959352"/>
            <a:ext cx="411480" cy="411480"/>
          </a:xfrm>
          <a:prstGeom prst="ellipse">
            <a:avLst/>
          </a:prstGeom>
          <a:solidFill>
            <a:srgbClr val="E8F8F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5079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886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RF03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51560" y="408736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preço fixo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051560" y="436168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calcula o valor da corrida com base em distância e volume, antes da confirmação.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5010912"/>
            <a:ext cx="411480" cy="411480"/>
          </a:xfrm>
          <a:prstGeom prst="ellipse">
            <a:avLst/>
          </a:prstGeom>
          <a:solidFill>
            <a:srgbClr val="E8F8F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102352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4937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051560" y="513892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com motorista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051560" y="54132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conecta automaticamente o pedido ao motorista disponível mais próximo.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217920" y="1856232"/>
            <a:ext cx="411480" cy="411480"/>
          </a:xfrm>
          <a:prstGeom prst="ellipse">
            <a:avLst/>
          </a:prstGeom>
          <a:solidFill>
            <a:srgbClr val="E8F8F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1947672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72084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RF05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720840" y="198424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em tempo real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6720840" y="2258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acompanha a localização do motorista do aceite até a entrega.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17920" y="2907792"/>
            <a:ext cx="411480" cy="411480"/>
          </a:xfrm>
          <a:prstGeom prst="ellipse">
            <a:avLst/>
          </a:prstGeom>
          <a:solidFill>
            <a:srgbClr val="E8F8F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2999232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084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RF06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720840" y="30358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de entrega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6720840" y="33101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 finaliza a corrida e o sistema registra a conclusão e o pagamento.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217920" y="3959352"/>
            <a:ext cx="411480" cy="411480"/>
          </a:xfrm>
          <a:prstGeom prst="ellipse">
            <a:avLst/>
          </a:prstGeom>
          <a:solidFill>
            <a:srgbClr val="E8F8F1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4050792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720840" y="3886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RF07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6720840" y="408736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serviço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6720840" y="436168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avalia o motorista e o serviço prestado ao final da corrida.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6217920" y="5010912"/>
            <a:ext cx="411480" cy="411480"/>
          </a:xfrm>
          <a:prstGeom prst="ellipse">
            <a:avLst/>
          </a:prstGeom>
          <a:solidFill>
            <a:srgbClr val="E8F8F1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5102352"/>
            <a:ext cx="228600" cy="2286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720840" y="4937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RF08</a:t>
            </a:r>
            <a:endParaRPr lang="en-US" sz="1050" dirty="0"/>
          </a:p>
        </p:txBody>
      </p:sp>
      <p:sp>
        <p:nvSpPr>
          <p:cNvPr id="43" name="Text 33"/>
          <p:cNvSpPr/>
          <p:nvPr/>
        </p:nvSpPr>
        <p:spPr>
          <a:xfrm>
            <a:off x="6720840" y="513892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seguro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6720840" y="54132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aplica cobertura de até R$ 5.000 por viagem automaticamente.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Leve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não funcionais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sistema deve se comportar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0B2A2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258568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7432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04495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de cálculo de preço em até 2 segundos após o envio dos dados.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8745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4599432" y="2130552"/>
            <a:ext cx="502920" cy="502920"/>
          </a:xfrm>
          <a:prstGeom prst="ellipse">
            <a:avLst/>
          </a:prstGeom>
          <a:solidFill>
            <a:srgbClr val="0B2A2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258568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99432" y="27432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99432" y="304495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pagamento e identidade criptografados, em conformidade com a LGPD.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38160" y="18745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8394192" y="2130552"/>
            <a:ext cx="502920" cy="502920"/>
          </a:xfrm>
          <a:prstGeom prst="ellipse">
            <a:avLst/>
          </a:prstGeom>
          <a:solidFill>
            <a:srgbClr val="0B2A2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258568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5256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RNF03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394192" y="27432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394192" y="304495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disponível 24 horas por dia, com meta de 99,5% de uptime.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0690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24" name="Shape 19"/>
          <p:cNvSpPr/>
          <p:nvPr/>
        </p:nvSpPr>
        <p:spPr>
          <a:xfrm>
            <a:off x="804672" y="4325112"/>
            <a:ext cx="502920" cy="502920"/>
          </a:xfrm>
          <a:prstGeom prst="ellipse">
            <a:avLst/>
          </a:prstGeom>
          <a:solidFill>
            <a:srgbClr val="0B2A22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453128"/>
            <a:ext cx="246888" cy="2468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63040" y="4343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RNF04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04672" y="493776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804672" y="523951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mobile-first, intuitiva, com no máximo 3 passos para solicitar.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343400" y="40690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30" name="Shape 24"/>
          <p:cNvSpPr/>
          <p:nvPr/>
        </p:nvSpPr>
        <p:spPr>
          <a:xfrm>
            <a:off x="4599432" y="4325112"/>
            <a:ext cx="502920" cy="502920"/>
          </a:xfrm>
          <a:prstGeom prst="ellipse">
            <a:avLst/>
          </a:prstGeom>
          <a:solidFill>
            <a:srgbClr val="0B2A22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453128"/>
            <a:ext cx="246888" cy="2468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57800" y="4343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RNF05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99432" y="493776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4599432" y="523951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nuvem capaz de suportar picos regionais de demanda.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138160" y="40690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36" name="Shape 29"/>
          <p:cNvSpPr/>
          <p:nvPr/>
        </p:nvSpPr>
        <p:spPr>
          <a:xfrm>
            <a:off x="8394192" y="4325112"/>
            <a:ext cx="502920" cy="502920"/>
          </a:xfrm>
          <a:prstGeom prst="ellipse">
            <a:avLst/>
          </a:prstGeom>
          <a:solidFill>
            <a:srgbClr val="0B2A22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4453128"/>
            <a:ext cx="246888" cy="2468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052560" y="4343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RNF06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8394192" y="493776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Manutenibilidade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8394192" y="523951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modular, documentado e testável para evolução contínua.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Leve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A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4" name="Image 0" descr="images/brand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5544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Leve — movendo o que é grande, com simplicidade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— Centro Universitário Senac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lanos Futur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250" b="1" dirty="0">
                <a:solidFill>
                  <a:srgbClr val="1C7EC4"/>
                </a:solidFill>
                <a:latin typeface="Calibri" pitchFamily="34" charset="0"/>
              </a:rPr>
              <a:t>PRÓXIMAS ETAPAS</a:t>
            </a:r>
          </a:p>
        </p:txBody>
      </p:sp>
      <p:sp>
        <p:nvSpPr>
          <p:cNvPr id="3" name="Heading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000" b="1" dirty="0">
                <a:solidFill>
                  <a:srgbClr val="1E293B"/>
                </a:solidFill>
                <a:latin typeface="Calibri" pitchFamily="34" charset="0"/>
              </a:rPr>
              <a:t>Planos futuros</a:t>
            </a:r>
          </a:p>
        </p:txBody>
      </p:sp>
      <p:sp>
        <p:nvSpPr>
          <p:cNvPr id="4" name="Card4"/>
          <p:cNvSpPr/>
          <p:nvPr/>
        </p:nvSpPr>
        <p:spPr>
          <a:xfrm>
            <a:off x="548640" y="1750000"/>
            <a:ext cx="3516960" cy="46800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/>
          <a:effectLst>
            <a:outerShdw blurRad="91440" dist="27432" dir="5400000" algn="b" rotWithShape="0">
              <a:srgbClr val="000000">
                <a:alpha val="7000"/>
              </a:srgbClr>
            </a:outerShdw>
          </a:effectLst>
        </p:spPr>
      </p:sp>
      <p:sp>
        <p:nvSpPr>
          <p:cNvPr id="5" name="IcBg5"/>
          <p:cNvSpPr/>
          <p:nvPr/>
        </p:nvSpPr>
        <p:spPr>
          <a:xfrm>
            <a:off x="822960" y="2024320"/>
            <a:ext cx="686880" cy="6868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6" name="Ic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08" y="2178868"/>
            <a:ext cx="377784" cy="377784"/>
          </a:xfrm>
          <a:prstGeom prst="rect">
            <a:avLst/>
          </a:prstGeom>
        </p:spPr>
      </p:pic>
      <p:sp>
        <p:nvSpPr>
          <p:cNvPr id="7" name="T1a"/>
          <p:cNvSpPr/>
          <p:nvPr/>
        </p:nvSpPr>
        <p:spPr>
          <a:xfrm>
            <a:off x="822960" y="2894080"/>
            <a:ext cx="296832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500" b="1" dirty="0">
                <a:solidFill>
                  <a:srgbClr val="1E293B"/>
                </a:solidFill>
                <a:latin typeface="Calibri" pitchFamily="34" charset="0"/>
              </a:rPr>
              <a:t>Google Maps API</a:t>
            </a:r>
          </a:p>
        </p:txBody>
      </p:sp>
      <p:sp>
        <p:nvSpPr>
          <p:cNvPr id="8" name="Tag8"/>
          <p:cNvSpPr/>
          <p:nvPr/>
        </p:nvSpPr>
        <p:spPr>
          <a:xfrm>
            <a:off x="822960" y="3324080"/>
            <a:ext cx="1371600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 wrap="square" lIns="91440" tIns="0" rIns="91440" bIns="0" anchor="ctr" rtlCol="0"/>
          <a:lstStyle/>
          <a:p>
            <a:pPr marL="0" indent="0" algn="ctr">
              <a:buNone/>
            </a:pPr>
            <a:r>
              <a:rPr lang="pt-BR" sz="950" b="1" dirty="0">
                <a:solidFill>
                  <a:srgbClr val="1C7EC4"/>
                </a:solidFill>
                <a:latin typeface="Calibri" pitchFamily="34" charset="0"/>
              </a:rPr>
              <a:t>Integração</a:t>
            </a:r>
          </a:p>
        </p:txBody>
      </p:sp>
      <p:cxnSp>
        <p:nvCxnSpPr>
          <p:cNvPr id="9" name="Div9"/>
          <p:cNvCxnSpPr/>
          <p:nvPr/>
        </p:nvCxnSpPr>
        <p:spPr>
          <a:xfrm>
            <a:off x="D1" y="822960"/>
            <a:ext cx="373556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0" name="Bul10"/>
          <p:cNvSpPr/>
          <p:nvPr/>
        </p:nvSpPr>
        <p:spPr>
          <a:xfrm>
            <a:off x="822960" y="3827000"/>
            <a:ext cx="296832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0000" indent="-200000" algn="l">
              <a:lnSpc>
                <a:spcPct val="120000"/>
              </a:lnSpc>
              <a:spcBef>
                <a:spcPts val="300"/>
              </a:spcBef>
              <a:buFont typeface="Arial"/>
              <a:buChar char="›"/>
            </a:pPr>
            <a:r>
              <a:rPr lang="pt-BR" sz="1150" dirty="0">
                <a:solidFill>
                  <a:srgbClr val="475569"/>
                </a:solidFill>
                <a:latin typeface="Calibri" pitchFamily="34" charset="0"/>
              </a:rPr>
              <a:t>Cálculo de rota e distância em tempo real</a:t>
            </a:r>
          </a:p>
          <a:p>
            <a:pPr marL="200000" indent="-200000" algn="l">
              <a:lnSpc>
                <a:spcPct val="120000"/>
              </a:lnSpc>
              <a:spcBef>
                <a:spcPts val="300"/>
              </a:spcBef>
              <a:buFont typeface="Arial"/>
              <a:buChar char="›"/>
            </a:pPr>
            <a:r>
              <a:rPr lang="pt-BR" sz="1150" dirty="0">
                <a:solidFill>
                  <a:srgbClr val="475569"/>
                </a:solidFill>
                <a:latin typeface="Calibri" pitchFamily="34" charset="0"/>
              </a:rPr>
              <a:t>Exibição do motorista no mapa durante a corrida</a:t>
            </a:r>
          </a:p>
          <a:p>
            <a:pPr marL="200000" indent="-200000" algn="l">
              <a:lnSpc>
                <a:spcPct val="120000"/>
              </a:lnSpc>
              <a:spcBef>
                <a:spcPts val="300"/>
              </a:spcBef>
              <a:buFont typeface="Arial"/>
              <a:buChar char="›"/>
            </a:pPr>
            <a:r>
              <a:rPr lang="pt-BR" sz="1150" dirty="0">
                <a:solidFill>
                  <a:srgbClr val="475569"/>
                </a:solidFill>
                <a:latin typeface="Calibri" pitchFamily="34" charset="0"/>
              </a:rPr>
              <a:t>Estimativa de tempo de chegada (ETA)</a:t>
            </a:r>
          </a:p>
          <a:p>
            <a:pPr marL="200000" indent="-200000" algn="l">
              <a:lnSpc>
                <a:spcPct val="120000"/>
              </a:lnSpc>
              <a:spcBef>
                <a:spcPts val="300"/>
              </a:spcBef>
              <a:buFont typeface="Arial"/>
              <a:buChar char="›"/>
            </a:pPr>
            <a:r>
              <a:rPr lang="pt-BR" sz="1150" dirty="0">
                <a:solidFill>
                  <a:srgbClr val="475569"/>
                </a:solidFill>
                <a:latin typeface="Calibri" pitchFamily="34" charset="0"/>
              </a:rPr>
              <a:t>Navegação turn-by-turn para o motorista</a:t>
            </a:r>
          </a:p>
        </p:txBody>
      </p:sp>
      <p:sp>
        <p:nvSpPr>
          <p:cNvPr id="11" name="Card11"/>
          <p:cNvSpPr/>
          <p:nvPr/>
        </p:nvSpPr>
        <p:spPr>
          <a:xfrm>
            <a:off x="4248480" y="1750000"/>
            <a:ext cx="3516960" cy="46800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/>
          <a:effectLst>
            <a:outerShdw blurRad="91440" dist="27432" dir="5400000" algn="b" rotWithShape="0">
              <a:srgbClr val="000000">
                <a:alpha val="7000"/>
              </a:srgbClr>
            </a:outerShdw>
          </a:effectLst>
        </p:spPr>
      </p:sp>
      <p:sp>
        <p:nvSpPr>
          <p:cNvPr id="12" name="IcBg12"/>
          <p:cNvSpPr/>
          <p:nvPr/>
        </p:nvSpPr>
        <p:spPr>
          <a:xfrm>
            <a:off x="4522800" y="2024320"/>
            <a:ext cx="686880" cy="6868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3" name="Ic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7348" y="2178868"/>
            <a:ext cx="377784" cy="377784"/>
          </a:xfrm>
          <a:prstGeom prst="rect">
            <a:avLst/>
          </a:prstGeom>
        </p:spPr>
      </p:pic>
      <p:sp>
        <p:nvSpPr>
          <p:cNvPr id="14" name="T2a"/>
          <p:cNvSpPr/>
          <p:nvPr/>
        </p:nvSpPr>
        <p:spPr>
          <a:xfrm>
            <a:off x="4522800" y="2894080"/>
            <a:ext cx="296832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500" b="1" dirty="0">
                <a:solidFill>
                  <a:srgbClr val="1E293B"/>
                </a:solidFill>
                <a:latin typeface="Calibri" pitchFamily="34" charset="0"/>
              </a:rPr>
              <a:t>Algoritmo de matching</a:t>
            </a:r>
          </a:p>
        </p:txBody>
      </p:sp>
      <p:sp>
        <p:nvSpPr>
          <p:cNvPr id="15" name="Tag15"/>
          <p:cNvSpPr/>
          <p:nvPr/>
        </p:nvSpPr>
        <p:spPr>
          <a:xfrm>
            <a:off x="4522800" y="3324080"/>
            <a:ext cx="1371600" cy="2286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 wrap="square" lIns="91440" tIns="0" rIns="91440" bIns="0" anchor="ctr" rtlCol="0"/>
          <a:lstStyle/>
          <a:p>
            <a:pPr marL="0" indent="0" algn="ctr">
              <a:buNone/>
            </a:pPr>
            <a:r>
              <a:rPr lang="pt-BR" sz="950" b="1" dirty="0">
                <a:solidFill>
                  <a:srgbClr val="0E9F6E"/>
                </a:solidFill>
                <a:latin typeface="Calibri" pitchFamily="34" charset="0"/>
              </a:rPr>
              <a:t>Inteligência</a:t>
            </a:r>
          </a:p>
        </p:txBody>
      </p:sp>
      <p:cxnSp>
        <p:nvCxnSpPr>
          <p:cNvPr id="16" name="Div16"/>
          <p:cNvCxnSpPr/>
          <p:nvPr/>
        </p:nvCxnSpPr>
        <p:spPr>
          <a:xfrm>
            <a:off x="D2" y="4522800"/>
            <a:ext cx="373556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7" name="Bul17"/>
          <p:cNvSpPr/>
          <p:nvPr/>
        </p:nvSpPr>
        <p:spPr>
          <a:xfrm>
            <a:off x="4522800" y="3827000"/>
            <a:ext cx="296832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0000" indent="-200000" algn="l">
              <a:lnSpc>
                <a:spcPct val="120000"/>
              </a:lnSpc>
              <a:spcBef>
                <a:spcPts val="300"/>
              </a:spcBef>
              <a:buFont typeface="Arial"/>
              <a:buChar char="›"/>
            </a:pPr>
            <a:r>
              <a:rPr lang="pt-BR" sz="1150" dirty="0">
                <a:solidFill>
                  <a:srgbClr val="475569"/>
                </a:solidFill>
                <a:latin typeface="Calibri" pitchFamily="34" charset="0"/>
              </a:rPr>
              <a:t>Busca do motorista mais próximo disponível</a:t>
            </a:r>
          </a:p>
          <a:p>
            <a:pPr marL="200000" indent="-200000" algn="l">
              <a:lnSpc>
                <a:spcPct val="120000"/>
              </a:lnSpc>
              <a:spcBef>
                <a:spcPts val="300"/>
              </a:spcBef>
              <a:buFont typeface="Arial"/>
              <a:buChar char="›"/>
            </a:pPr>
            <a:r>
              <a:rPr lang="pt-BR" sz="1150" dirty="0">
                <a:solidFill>
                  <a:srgbClr val="475569"/>
                </a:solidFill>
                <a:latin typeface="Calibri" pitchFamily="34" charset="0"/>
              </a:rPr>
              <a:t>Critérios de seleção: distância, avaliação e tipo de veículo</a:t>
            </a:r>
          </a:p>
          <a:p>
            <a:pPr marL="200000" indent="-200000" algn="l">
              <a:lnSpc>
                <a:spcPct val="120000"/>
              </a:lnSpc>
              <a:spcBef>
                <a:spcPts val="300"/>
              </a:spcBef>
              <a:buFont typeface="Arial"/>
              <a:buChar char="›"/>
            </a:pPr>
            <a:r>
              <a:rPr lang="pt-BR" sz="1150" dirty="0">
                <a:solidFill>
                  <a:srgbClr val="475569"/>
                </a:solidFill>
                <a:latin typeface="Calibri" pitchFamily="34" charset="0"/>
              </a:rPr>
              <a:t>Fila de prioridade para corridas de alta demanda</a:t>
            </a:r>
          </a:p>
          <a:p>
            <a:pPr marL="200000" indent="-200000" algn="l">
              <a:lnSpc>
                <a:spcPct val="120000"/>
              </a:lnSpc>
              <a:spcBef>
                <a:spcPts val="300"/>
              </a:spcBef>
              <a:buFont typeface="Arial"/>
              <a:buChar char="›"/>
            </a:pPr>
            <a:r>
              <a:rPr lang="pt-BR" sz="1150" dirty="0">
                <a:solidFill>
                  <a:srgbClr val="475569"/>
                </a:solidFill>
                <a:latin typeface="Calibri" pitchFamily="34" charset="0"/>
              </a:rPr>
              <a:t>Cancelamento inteligente e reatribuição automática</a:t>
            </a:r>
          </a:p>
        </p:txBody>
      </p:sp>
      <p:sp>
        <p:nvSpPr>
          <p:cNvPr id="18" name="Card18"/>
          <p:cNvSpPr/>
          <p:nvPr/>
        </p:nvSpPr>
        <p:spPr>
          <a:xfrm>
            <a:off x="7948320" y="1750000"/>
            <a:ext cx="3516960" cy="46800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/>
          <a:effectLst>
            <a:outerShdw blurRad="91440" dist="27432" dir="5400000" algn="b" rotWithShape="0">
              <a:srgbClr val="000000">
                <a:alpha val="7000"/>
              </a:srgbClr>
            </a:outerShdw>
          </a:effectLst>
        </p:spPr>
      </p:sp>
      <p:sp>
        <p:nvSpPr>
          <p:cNvPr id="19" name="IcBg19"/>
          <p:cNvSpPr/>
          <p:nvPr/>
        </p:nvSpPr>
        <p:spPr>
          <a:xfrm>
            <a:off x="8222640" y="2024320"/>
            <a:ext cx="686880" cy="68688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0" name="Ic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7188" y="2178868"/>
            <a:ext cx="377784" cy="377784"/>
          </a:xfrm>
          <a:prstGeom prst="rect">
            <a:avLst/>
          </a:prstGeom>
        </p:spPr>
      </p:pic>
      <p:sp>
        <p:nvSpPr>
          <p:cNvPr id="21" name="T3a"/>
          <p:cNvSpPr/>
          <p:nvPr/>
        </p:nvSpPr>
        <p:spPr>
          <a:xfrm>
            <a:off x="8222640" y="2894080"/>
            <a:ext cx="296832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500" b="1" dirty="0">
                <a:solidFill>
                  <a:srgbClr val="1E293B"/>
                </a:solidFill>
                <a:latin typeface="Calibri" pitchFamily="34" charset="0"/>
              </a:rPr>
              <a:t>Melhorias e correção de bugs</a:t>
            </a:r>
          </a:p>
        </p:txBody>
      </p:sp>
      <p:sp>
        <p:nvSpPr>
          <p:cNvPr id="22" name="Tag22"/>
          <p:cNvSpPr/>
          <p:nvPr/>
        </p:nvSpPr>
        <p:spPr>
          <a:xfrm>
            <a:off x="8222640" y="3324080"/>
            <a:ext cx="1371600" cy="2286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  <p:txBody>
          <a:bodyPr wrap="square" lIns="91440" tIns="0" rIns="91440" bIns="0" anchor="ctr" rtlCol="0"/>
          <a:lstStyle/>
          <a:p>
            <a:pPr marL="0" indent="0" algn="ctr">
              <a:buNone/>
            </a:pPr>
            <a:r>
              <a:rPr lang="pt-BR" sz="950" b="1" dirty="0">
                <a:solidFill>
                  <a:srgbClr val="7C4FE0"/>
                </a:solidFill>
                <a:latin typeface="Calibri" pitchFamily="34" charset="0"/>
              </a:rPr>
              <a:t>Qualidade</a:t>
            </a:r>
          </a:p>
        </p:txBody>
      </p:sp>
      <p:cxnSp>
        <p:nvCxnSpPr>
          <p:cNvPr id="23" name="Div23"/>
          <p:cNvCxnSpPr/>
          <p:nvPr/>
        </p:nvCxnSpPr>
        <p:spPr>
          <a:xfrm>
            <a:off x="D3" y="8222640"/>
            <a:ext cx="373556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24" name="Bul24"/>
          <p:cNvSpPr/>
          <p:nvPr/>
        </p:nvSpPr>
        <p:spPr>
          <a:xfrm>
            <a:off x="8222640" y="3827000"/>
            <a:ext cx="296832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0000" indent="-200000" algn="l">
              <a:lnSpc>
                <a:spcPct val="120000"/>
              </a:lnSpc>
              <a:spcBef>
                <a:spcPts val="300"/>
              </a:spcBef>
              <a:buFont typeface="Arial"/>
              <a:buChar char="›"/>
            </a:pPr>
            <a:r>
              <a:rPr lang="pt-BR" sz="1150" dirty="0">
                <a:solidFill>
                  <a:srgbClr val="475569"/>
                </a:solidFill>
                <a:latin typeface="Calibri" pitchFamily="34" charset="0"/>
              </a:rPr>
              <a:t>Melhora de performance e tempo de resposta da API</a:t>
            </a:r>
          </a:p>
          <a:p>
            <a:pPr marL="200000" indent="-200000" algn="l">
              <a:lnSpc>
                <a:spcPct val="120000"/>
              </a:lnSpc>
              <a:spcBef>
                <a:spcPts val="300"/>
              </a:spcBef>
              <a:buFont typeface="Arial"/>
              <a:buChar char="›"/>
            </a:pPr>
            <a:r>
              <a:rPr lang="pt-BR" sz="1150" dirty="0">
                <a:solidFill>
                  <a:srgbClr val="475569"/>
                </a:solidFill>
                <a:latin typeface="Calibri" pitchFamily="34" charset="0"/>
              </a:rPr>
              <a:t>Refinamento da interface mobile (UX/UI)</a:t>
            </a:r>
          </a:p>
          <a:p>
            <a:pPr marL="200000" indent="-200000" algn="l">
              <a:lnSpc>
                <a:spcPct val="120000"/>
              </a:lnSpc>
              <a:spcBef>
                <a:spcPts val="300"/>
              </a:spcBef>
              <a:buFont typeface="Arial"/>
              <a:buChar char="›"/>
            </a:pPr>
            <a:r>
              <a:rPr lang="pt-BR" sz="1150" dirty="0">
                <a:solidFill>
                  <a:srgbClr val="475569"/>
                </a:solidFill>
                <a:latin typeface="Calibri" pitchFamily="34" charset="0"/>
              </a:rPr>
              <a:t>Testes automatizados e cobertura de código</a:t>
            </a:r>
          </a:p>
          <a:p>
            <a:pPr marL="200000" indent="-200000" algn="l">
              <a:lnSpc>
                <a:spcPct val="120000"/>
              </a:lnSpc>
              <a:spcBef>
                <a:spcPts val="300"/>
              </a:spcBef>
              <a:buFont typeface="Arial"/>
              <a:buChar char="›"/>
            </a:pPr>
            <a:r>
              <a:rPr lang="pt-BR" sz="1150" dirty="0">
                <a:solidFill>
                  <a:srgbClr val="475569"/>
                </a:solidFill>
                <a:latin typeface="Calibri" pitchFamily="34" charset="0"/>
              </a:rPr>
              <a:t>Correção de bugs identificados em testes beta</a:t>
            </a:r>
          </a:p>
        </p:txBody>
      </p:sp>
      <p:sp>
        <p:nvSpPr>
          <p:cNvPr id="25" name="FooterL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000" dirty="0">
                <a:solidFill>
                  <a:srgbClr val="64748B"/>
                </a:solidFill>
                <a:latin typeface="Calibri" pitchFamily="34" charset="0"/>
              </a:rPr>
              <a:t>Leva Leve</a:t>
            </a:r>
          </a:p>
        </p:txBody>
      </p:sp>
      <p:sp>
        <p:nvSpPr>
          <p:cNvPr id="26" name="FooterR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pt-BR" sz="1000" dirty="0">
                <a:solidFill>
                  <a:srgbClr val="64748B"/>
                </a:solidFill>
                <a:latin typeface="Calibri" pitchFamily="34" charset="0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664</Words>
  <Application>Microsoft Office PowerPoint</Application>
  <PresentationFormat>Widescreen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Leva Leve — Apresentação do Projeto</dc:title>
  <dc:subject>PptxGenJS Presentation</dc:subject>
  <dc:creator>Leva Leve</dc:creator>
  <cp:lastModifiedBy>Eric Reinhardt</cp:lastModifiedBy>
  <cp:revision>5</cp:revision>
  <dcterms:created xsi:type="dcterms:W3CDTF">2026-06-27T00:55:58Z</dcterms:created>
  <dcterms:modified xsi:type="dcterms:W3CDTF">2026-06-27T13:08:39Z</dcterms:modified>
</cp:coreProperties>
</file>